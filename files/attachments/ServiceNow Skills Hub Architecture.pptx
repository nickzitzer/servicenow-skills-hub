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Urbanist" panose="020B0A04040200000203" pitchFamily="34" charset="77"/>
      <p:regular r:id="rId15"/>
      <p:bold r:id="rId16"/>
      <p:italic r:id="rId17"/>
      <p:boldItalic r:id="rId18"/>
    </p:embeddedFont>
    <p:embeddedFont>
      <p:font typeface="Urbanist Light" panose="020B0A04040200000203" pitchFamily="34" charset="77"/>
      <p:regular r:id="rId19"/>
      <p:bold r:id="rId20"/>
      <p:italic r:id="rId21"/>
      <p:boldItalic r:id="rId22"/>
    </p:embeddedFont>
    <p:embeddedFont>
      <p:font typeface="Urbanist SemiBold" panose="020B0A04040200000203" pitchFamily="34" charset="77"/>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7DE266-7501-4D6F-9A31-4D871C222896}">
  <a:tblStyle styleId="{337DE266-7501-4D6F-9A31-4D871C22289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19"/>
  </p:normalViewPr>
  <p:slideViewPr>
    <p:cSldViewPr snapToGrid="0">
      <p:cViewPr varScale="1">
        <p:scale>
          <a:sx n="148" d="100"/>
          <a:sy n="148" d="100"/>
        </p:scale>
        <p:origin x="1016"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686300" y="2241202"/>
            <a:ext cx="2819400" cy="352425"/>
          </a:xfrm>
          <a:prstGeom prst="rect">
            <a:avLst/>
          </a:prstGeom>
          <a:noFill/>
          <a:ln>
            <a:noFill/>
          </a:ln>
        </p:spPr>
      </p:pic>
      <p:sp>
        <p:nvSpPr>
          <p:cNvPr id="86" name="Google Shape;86;p13"/>
          <p:cNvSpPr txBox="1"/>
          <p:nvPr/>
        </p:nvSpPr>
        <p:spPr>
          <a:xfrm>
            <a:off x="2656667" y="2784127"/>
            <a:ext cx="6878515" cy="819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F8FAFC"/>
                </a:solidFill>
                <a:latin typeface="Urbanist"/>
                <a:ea typeface="Urbanist"/>
                <a:cs typeface="Urbanist"/>
                <a:sym typeface="Urbanist"/>
              </a:rPr>
              <a:t>ServiceNow Skills Hub</a:t>
            </a:r>
            <a:endParaRPr/>
          </a:p>
        </p:txBody>
      </p:sp>
      <p:sp>
        <p:nvSpPr>
          <p:cNvPr id="87" name="Google Shape;87;p13"/>
          <p:cNvSpPr txBox="1"/>
          <p:nvPr/>
        </p:nvSpPr>
        <p:spPr>
          <a:xfrm>
            <a:off x="1863621" y="4613230"/>
            <a:ext cx="8464605"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64748B"/>
                </a:solidFill>
                <a:latin typeface="Urbanist Light"/>
                <a:ea typeface="Urbanist Light"/>
                <a:cs typeface="Urbanist Light"/>
                <a:sym typeface="Urbanist Light"/>
              </a:rPr>
              <a:t>Extending OOB Capabilities to Drive User Engagement &amp; Verification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571500" y="1304925"/>
            <a:ext cx="5238750" cy="2415737"/>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571500" y="4012600"/>
            <a:ext cx="5238750" cy="2415737"/>
          </a:xfrm>
          <a:prstGeom prst="rect">
            <a:avLst/>
          </a:prstGeom>
          <a:noFill/>
          <a:ln>
            <a:noFill/>
          </a:ln>
        </p:spPr>
      </p:pic>
      <p:sp>
        <p:nvSpPr>
          <p:cNvPr id="95" name="Google Shape;95;p14"/>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The Strategic Shift</a:t>
            </a:r>
            <a:endParaRPr/>
          </a:p>
        </p:txBody>
      </p:sp>
      <p:sp>
        <p:nvSpPr>
          <p:cNvPr id="96" name="Google Shape;96;p14"/>
          <p:cNvSpPr/>
          <p:nvPr/>
        </p:nvSpPr>
        <p:spPr>
          <a:xfrm>
            <a:off x="571500" y="571500"/>
            <a:ext cx="47625" cy="5524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4"/>
          <p:cNvSpPr txBox="1"/>
          <p:nvPr/>
        </p:nvSpPr>
        <p:spPr>
          <a:xfrm>
            <a:off x="962025" y="1695450"/>
            <a:ext cx="4680585" cy="323850"/>
          </a:xfrm>
          <a:prstGeom prst="rect">
            <a:avLst/>
          </a:prstGeom>
          <a:noFill/>
          <a:ln>
            <a:noFill/>
          </a:ln>
        </p:spPr>
        <p:txBody>
          <a:bodyPr spcFirstLastPara="1" wrap="square" lIns="261475" tIns="0" rIns="0" bIns="0" anchor="t" anchorCtr="0">
            <a:spAutoFit/>
          </a:bodyPr>
          <a:lstStyle/>
          <a:p>
            <a:pPr marL="0" marR="0" lvl="0" indent="0" algn="l" rtl="0">
              <a:spcBef>
                <a:spcPts val="0"/>
              </a:spcBef>
              <a:spcAft>
                <a:spcPts val="0"/>
              </a:spcAft>
              <a:buNone/>
            </a:pPr>
            <a:r>
              <a:rPr lang="en-US" sz="2100" b="1" i="0" u="none" strike="noStrike" cap="none" dirty="0">
                <a:solidFill>
                  <a:srgbClr val="EF4444"/>
                </a:solidFill>
                <a:latin typeface="Urbanist"/>
                <a:ea typeface="Urbanist"/>
                <a:cs typeface="Urbanist"/>
                <a:sym typeface="Urbanist"/>
              </a:rPr>
              <a:t>Current State</a:t>
            </a:r>
            <a:endParaRPr dirty="0"/>
          </a:p>
        </p:txBody>
      </p:sp>
      <p:sp>
        <p:nvSpPr>
          <p:cNvPr id="98" name="Google Shape;98;p14"/>
          <p:cNvSpPr txBox="1"/>
          <p:nvPr/>
        </p:nvSpPr>
        <p:spPr>
          <a:xfrm>
            <a:off x="962025" y="2209800"/>
            <a:ext cx="4457700"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CBD5E1"/>
                </a:solidFill>
                <a:latin typeface="Urbanist Light"/>
                <a:ea typeface="Urbanist Light"/>
                <a:cs typeface="Urbanist Light"/>
                <a:sym typeface="Urbanist Light"/>
              </a:rPr>
              <a:t>The existing "Skills Management" module is functionally siloed. It relies on heavy administrative overhead or manual backend entry, leading to stale data. Users lack incentive to update profiles, and managers lack tools to verify claims effectively.</a:t>
            </a:r>
            <a:endParaRPr sz="1100" dirty="0"/>
          </a:p>
        </p:txBody>
      </p:sp>
      <p:sp>
        <p:nvSpPr>
          <p:cNvPr id="99" name="Google Shape;99;p14"/>
          <p:cNvSpPr txBox="1"/>
          <p:nvPr/>
        </p:nvSpPr>
        <p:spPr>
          <a:xfrm>
            <a:off x="962025" y="4403125"/>
            <a:ext cx="4680585" cy="323850"/>
          </a:xfrm>
          <a:prstGeom prst="rect">
            <a:avLst/>
          </a:prstGeom>
          <a:noFill/>
          <a:ln>
            <a:noFill/>
          </a:ln>
        </p:spPr>
        <p:txBody>
          <a:bodyPr spcFirstLastPara="1" wrap="square" lIns="261475"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Urbanist"/>
                <a:ea typeface="Urbanist"/>
                <a:cs typeface="Urbanist"/>
                <a:sym typeface="Urbanist"/>
              </a:rPr>
              <a:t>Future State</a:t>
            </a:r>
            <a:endParaRPr/>
          </a:p>
        </p:txBody>
      </p:sp>
      <p:sp>
        <p:nvSpPr>
          <p:cNvPr id="100" name="Google Shape;100;p14"/>
          <p:cNvSpPr txBox="1"/>
          <p:nvPr/>
        </p:nvSpPr>
        <p:spPr>
          <a:xfrm>
            <a:off x="962025" y="4917475"/>
            <a:ext cx="4457700"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CBD5E1"/>
                </a:solidFill>
                <a:latin typeface="Urbanist Light"/>
                <a:ea typeface="Urbanist Light"/>
                <a:cs typeface="Urbanist Light"/>
                <a:sym typeface="Urbanist Light"/>
              </a:rPr>
              <a:t>A democratized "Skills Hub" on the Service Portal. By separating </a:t>
            </a:r>
            <a:r>
              <a:rPr lang="en-US" sz="1200" b="0" i="0" u="none" strike="noStrike" cap="none" dirty="0">
                <a:solidFill>
                  <a:srgbClr val="CBD5E1"/>
                </a:solidFill>
                <a:latin typeface="Urbanist"/>
                <a:ea typeface="Urbanist"/>
                <a:cs typeface="Urbanist"/>
                <a:sym typeface="Urbanist"/>
              </a:rPr>
              <a:t>capability</a:t>
            </a:r>
            <a:r>
              <a:rPr lang="en-US" sz="1200" b="0" i="0" u="none" strike="noStrike" cap="none" dirty="0">
                <a:solidFill>
                  <a:srgbClr val="CBD5E1"/>
                </a:solidFill>
                <a:latin typeface="Urbanist Light"/>
                <a:ea typeface="Urbanist Light"/>
                <a:cs typeface="Urbanist Light"/>
                <a:sym typeface="Urbanist Light"/>
              </a:rPr>
              <a:t> from </a:t>
            </a:r>
            <a:r>
              <a:rPr lang="en-US" sz="1200" b="0" i="0" u="none" strike="noStrike" cap="none" dirty="0">
                <a:solidFill>
                  <a:srgbClr val="CBD5E1"/>
                </a:solidFill>
                <a:latin typeface="Urbanist"/>
                <a:ea typeface="Urbanist"/>
                <a:cs typeface="Urbanist"/>
                <a:sym typeface="Urbanist"/>
              </a:rPr>
              <a:t>interest</a:t>
            </a:r>
            <a:r>
              <a:rPr lang="en-US" sz="1200" b="0" i="0" u="none" strike="noStrike" cap="none" dirty="0">
                <a:solidFill>
                  <a:srgbClr val="CBD5E1"/>
                </a:solidFill>
                <a:latin typeface="Urbanist Light"/>
                <a:ea typeface="Urbanist Light"/>
                <a:cs typeface="Urbanist Light"/>
                <a:sym typeface="Urbanist Light"/>
              </a:rPr>
              <a:t> and adding a social </a:t>
            </a:r>
            <a:r>
              <a:rPr lang="en-US" sz="1200" b="0" i="0" u="none" strike="noStrike" cap="none" dirty="0">
                <a:solidFill>
                  <a:srgbClr val="CBD5E1"/>
                </a:solidFill>
                <a:latin typeface="Urbanist"/>
                <a:ea typeface="Urbanist"/>
                <a:cs typeface="Urbanist"/>
                <a:sym typeface="Urbanist"/>
              </a:rPr>
              <a:t>validation</a:t>
            </a:r>
            <a:r>
              <a:rPr lang="en-US" sz="1200" b="0" i="0" u="none" strike="noStrike" cap="none" dirty="0">
                <a:solidFill>
                  <a:srgbClr val="CBD5E1"/>
                </a:solidFill>
                <a:latin typeface="Urbanist Light"/>
                <a:ea typeface="Urbanist Light"/>
                <a:cs typeface="Urbanist Light"/>
                <a:sym typeface="Urbanist Light"/>
              </a:rPr>
              <a:t> layer, we create a self-sustaining data ecosystem that powers accurate resource forecasting.</a:t>
            </a:r>
            <a:endParaRPr sz="1100" dirty="0"/>
          </a:p>
        </p:txBody>
      </p:sp>
      <p:pic>
        <p:nvPicPr>
          <p:cNvPr id="101" name="Google Shape;101;p14" descr="image.png"/>
          <p:cNvPicPr preferRelativeResize="0"/>
          <p:nvPr/>
        </p:nvPicPr>
        <p:blipFill rotWithShape="1">
          <a:blip r:embed="rId6">
            <a:alphaModFix/>
          </a:blip>
          <a:srcRect/>
          <a:stretch/>
        </p:blipFill>
        <p:spPr>
          <a:xfrm>
            <a:off x="962025" y="1724025"/>
            <a:ext cx="261491" cy="266700"/>
          </a:xfrm>
          <a:prstGeom prst="rect">
            <a:avLst/>
          </a:prstGeom>
          <a:noFill/>
          <a:ln>
            <a:noFill/>
          </a:ln>
        </p:spPr>
      </p:pic>
      <p:pic>
        <p:nvPicPr>
          <p:cNvPr id="102" name="Google Shape;102;p14" descr="image.png"/>
          <p:cNvPicPr preferRelativeResize="0"/>
          <p:nvPr/>
        </p:nvPicPr>
        <p:blipFill rotWithShape="1">
          <a:blip r:embed="rId7">
            <a:alphaModFix/>
          </a:blip>
          <a:srcRect/>
          <a:stretch/>
        </p:blipFill>
        <p:spPr>
          <a:xfrm>
            <a:off x="962025" y="4431700"/>
            <a:ext cx="261491" cy="266700"/>
          </a:xfrm>
          <a:prstGeom prst="rect">
            <a:avLst/>
          </a:prstGeom>
          <a:noFill/>
          <a:ln>
            <a:noFill/>
          </a:ln>
        </p:spPr>
      </p:pic>
      <p:pic>
        <p:nvPicPr>
          <p:cNvPr id="2" name="Picture 2" descr="Skills Management">
            <a:extLst>
              <a:ext uri="{FF2B5EF4-FFF2-40B4-BE49-F238E27FC236}">
                <a16:creationId xmlns:a16="http://schemas.microsoft.com/office/drawing/2014/main" id="{915AFB1E-6EDF-BF37-5F2A-5D69BA0C0F8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81750" y="2309155"/>
            <a:ext cx="5375835" cy="2823013"/>
          </a:xfrm>
          <a:prstGeom prst="roundRect">
            <a:avLst>
              <a:gd name="adj" fmla="val 5125"/>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06"/>
        <p:cNvGrpSpPr/>
        <p:nvPr/>
      </p:nvGrpSpPr>
      <p:grpSpPr>
        <a:xfrm>
          <a:off x="0" y="0"/>
          <a:ext cx="0" cy="0"/>
          <a:chOff x="0" y="0"/>
          <a:chExt cx="0" cy="0"/>
        </a:xfrm>
      </p:grpSpPr>
      <p:pic>
        <p:nvPicPr>
          <p:cNvPr id="107" name="Google Shape;107;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8" name="Google Shape;108;p15"/>
          <p:cNvSpPr txBox="1"/>
          <p:nvPr/>
        </p:nvSpPr>
        <p:spPr>
          <a:xfrm>
            <a:off x="295275" y="2117377"/>
            <a:ext cx="11601450" cy="638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FFFFFF"/>
                </a:solidFill>
                <a:latin typeface="Urbanist"/>
                <a:ea typeface="Urbanist"/>
                <a:cs typeface="Urbanist"/>
                <a:sym typeface="Urbanist"/>
              </a:rPr>
              <a:t>The Hybrid Architecture Strategy</a:t>
            </a:r>
            <a:endParaRPr/>
          </a:p>
        </p:txBody>
      </p:sp>
      <p:sp>
        <p:nvSpPr>
          <p:cNvPr id="109" name="Google Shape;109;p15"/>
          <p:cNvSpPr/>
          <p:nvPr/>
        </p:nvSpPr>
        <p:spPr>
          <a:xfrm>
            <a:off x="5619750" y="3041302"/>
            <a:ext cx="952500" cy="381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5"/>
          <p:cNvSpPr txBox="1"/>
          <p:nvPr/>
        </p:nvSpPr>
        <p:spPr>
          <a:xfrm>
            <a:off x="1809750" y="3460402"/>
            <a:ext cx="8572500" cy="128007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CBD5E1"/>
                </a:solidFill>
                <a:latin typeface="Urbanist Light"/>
                <a:ea typeface="Urbanist Light"/>
                <a:cs typeface="Urbanist Light"/>
                <a:sym typeface="Urbanist Light"/>
              </a:rPr>
              <a:t>We will leverage the robust </a:t>
            </a:r>
            <a:r>
              <a:rPr lang="en-US" sz="2100" b="0" i="0" u="none" strike="noStrike" cap="none">
                <a:solidFill>
                  <a:srgbClr val="CBD5E1"/>
                </a:solidFill>
                <a:latin typeface="Urbanist"/>
                <a:ea typeface="Urbanist"/>
                <a:cs typeface="Urbanist"/>
                <a:sym typeface="Urbanist"/>
              </a:rPr>
              <a:t>OOB Data Model</a:t>
            </a:r>
            <a:r>
              <a:rPr lang="en-US" sz="2100" b="0" i="0" u="none" strike="noStrike" cap="none">
                <a:solidFill>
                  <a:srgbClr val="CBD5E1"/>
                </a:solidFill>
                <a:latin typeface="Urbanist Light"/>
                <a:ea typeface="Urbanist Light"/>
                <a:cs typeface="Urbanist Light"/>
                <a:sym typeface="Urbanist Light"/>
              </a:rPr>
              <a:t> to ensure upgrade safety, while deploying a lightweight </a:t>
            </a:r>
            <a:r>
              <a:rPr lang="en-US" sz="2100" b="0" i="0" u="none" strike="noStrike" cap="none">
                <a:solidFill>
                  <a:srgbClr val="CBD5E1"/>
                </a:solidFill>
                <a:latin typeface="Urbanist"/>
                <a:ea typeface="Urbanist"/>
                <a:cs typeface="Urbanist"/>
                <a:sym typeface="Urbanist"/>
              </a:rPr>
              <a:t>Custom UI Layer</a:t>
            </a:r>
            <a:r>
              <a:rPr lang="en-US" sz="2100" b="0" i="0" u="none" strike="noStrike" cap="none">
                <a:solidFill>
                  <a:srgbClr val="CBD5E1"/>
                </a:solidFill>
                <a:latin typeface="Urbanist Light"/>
                <a:ea typeface="Urbanist Light"/>
                <a:cs typeface="Urbanist Light"/>
                <a:sym typeface="Urbanist Light"/>
              </a:rPr>
              <a:t> to deliver the consumer-grade experience users expect.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4"/>
        <p:cNvGrpSpPr/>
        <p:nvPr/>
      </p:nvGrpSpPr>
      <p:grpSpPr>
        <a:xfrm>
          <a:off x="0" y="0"/>
          <a:ext cx="0" cy="0"/>
          <a:chOff x="0" y="0"/>
          <a:chExt cx="0" cy="0"/>
        </a:xfrm>
      </p:grpSpPr>
      <p:pic>
        <p:nvPicPr>
          <p:cNvPr id="115" name="Google Shape;11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6" name="Google Shape;116;p16" descr="image.png"/>
          <p:cNvPicPr preferRelativeResize="0"/>
          <p:nvPr/>
        </p:nvPicPr>
        <p:blipFill rotWithShape="1">
          <a:blip r:embed="rId4">
            <a:alphaModFix/>
          </a:blip>
          <a:srcRect/>
          <a:stretch/>
        </p:blipFill>
        <p:spPr>
          <a:xfrm>
            <a:off x="571500" y="1952625"/>
            <a:ext cx="3492549" cy="3886200"/>
          </a:xfrm>
          <a:prstGeom prst="rect">
            <a:avLst/>
          </a:prstGeom>
          <a:noFill/>
          <a:ln>
            <a:noFill/>
          </a:ln>
        </p:spPr>
      </p:pic>
      <p:pic>
        <p:nvPicPr>
          <p:cNvPr id="117" name="Google Shape;117;p16" descr="image.png"/>
          <p:cNvPicPr preferRelativeResize="0"/>
          <p:nvPr/>
        </p:nvPicPr>
        <p:blipFill rotWithShape="1">
          <a:blip r:embed="rId5">
            <a:alphaModFix/>
          </a:blip>
          <a:srcRect/>
          <a:stretch/>
        </p:blipFill>
        <p:spPr>
          <a:xfrm>
            <a:off x="4349799" y="1952625"/>
            <a:ext cx="3492549" cy="3886200"/>
          </a:xfrm>
          <a:prstGeom prst="rect">
            <a:avLst/>
          </a:prstGeom>
          <a:noFill/>
          <a:ln>
            <a:noFill/>
          </a:ln>
        </p:spPr>
      </p:pic>
      <p:pic>
        <p:nvPicPr>
          <p:cNvPr id="118" name="Google Shape;118;p16" descr="image.png"/>
          <p:cNvPicPr preferRelativeResize="0"/>
          <p:nvPr/>
        </p:nvPicPr>
        <p:blipFill rotWithShape="1">
          <a:blip r:embed="rId6">
            <a:alphaModFix/>
          </a:blip>
          <a:srcRect/>
          <a:stretch/>
        </p:blipFill>
        <p:spPr>
          <a:xfrm>
            <a:off x="8128099" y="1952625"/>
            <a:ext cx="3492549" cy="3886200"/>
          </a:xfrm>
          <a:prstGeom prst="rect">
            <a:avLst/>
          </a:prstGeom>
          <a:noFill/>
          <a:ln>
            <a:noFill/>
          </a:ln>
        </p:spPr>
      </p:pic>
      <p:sp>
        <p:nvSpPr>
          <p:cNvPr id="119" name="Google Shape;119;p16"/>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Leveraging the Core Foundation</a:t>
            </a:r>
            <a:endParaRPr/>
          </a:p>
        </p:txBody>
      </p:sp>
      <p:sp>
        <p:nvSpPr>
          <p:cNvPr id="120" name="Google Shape;120;p16"/>
          <p:cNvSpPr/>
          <p:nvPr/>
        </p:nvSpPr>
        <p:spPr>
          <a:xfrm>
            <a:off x="571500" y="571500"/>
            <a:ext cx="47625" cy="5524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6"/>
          <p:cNvSpPr txBox="1"/>
          <p:nvPr/>
        </p:nvSpPr>
        <p:spPr>
          <a:xfrm>
            <a:off x="794225" y="2990850"/>
            <a:ext cx="304709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0B981"/>
                </a:solidFill>
                <a:latin typeface="Urbanist"/>
                <a:ea typeface="Urbanist"/>
                <a:cs typeface="Urbanist"/>
                <a:sym typeface="Urbanist"/>
              </a:rPr>
              <a:t>Standard Schema</a:t>
            </a:r>
            <a:endParaRPr/>
          </a:p>
        </p:txBody>
      </p:sp>
      <p:sp>
        <p:nvSpPr>
          <p:cNvPr id="122" name="Google Shape;122;p16"/>
          <p:cNvSpPr txBox="1"/>
          <p:nvPr/>
        </p:nvSpPr>
        <p:spPr>
          <a:xfrm>
            <a:off x="866775" y="3505200"/>
            <a:ext cx="2901999" cy="184785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We strictly utilize cmn_skill and sys_user_has_skill as the system of record. This ensures compatibility with future ServiceNow "Talent Development" releases.</a:t>
            </a:r>
            <a:endParaRPr/>
          </a:p>
        </p:txBody>
      </p:sp>
      <p:sp>
        <p:nvSpPr>
          <p:cNvPr id="123" name="Google Shape;123;p16"/>
          <p:cNvSpPr txBox="1"/>
          <p:nvPr/>
        </p:nvSpPr>
        <p:spPr>
          <a:xfrm>
            <a:off x="4572524" y="2990850"/>
            <a:ext cx="304709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0B981"/>
                </a:solidFill>
                <a:latin typeface="Urbanist"/>
                <a:ea typeface="Urbanist"/>
                <a:cs typeface="Urbanist"/>
                <a:sym typeface="Urbanist"/>
              </a:rPr>
              <a:t>Taxonomy</a:t>
            </a:r>
            <a:endParaRPr/>
          </a:p>
        </p:txBody>
      </p:sp>
      <p:sp>
        <p:nvSpPr>
          <p:cNvPr id="124" name="Google Shape;124;p16"/>
          <p:cNvSpPr txBox="1"/>
          <p:nvPr/>
        </p:nvSpPr>
        <p:spPr>
          <a:xfrm>
            <a:off x="4645074" y="3505200"/>
            <a:ext cx="2901999"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We maintain a single, governed taxonomy. New skills must be requested via Service Catalog, preventing data pollution (e.g., "JS" vs "JavaScript").</a:t>
            </a:r>
            <a:endParaRPr/>
          </a:p>
        </p:txBody>
      </p:sp>
      <p:sp>
        <p:nvSpPr>
          <p:cNvPr id="125" name="Google Shape;125;p16"/>
          <p:cNvSpPr txBox="1"/>
          <p:nvPr/>
        </p:nvSpPr>
        <p:spPr>
          <a:xfrm>
            <a:off x="8350824" y="2990850"/>
            <a:ext cx="304709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0B981"/>
                </a:solidFill>
                <a:latin typeface="Urbanist"/>
                <a:ea typeface="Urbanist"/>
                <a:cs typeface="Urbanist"/>
                <a:sym typeface="Urbanist"/>
              </a:rPr>
              <a:t>Security</a:t>
            </a:r>
            <a:endParaRPr/>
          </a:p>
        </p:txBody>
      </p:sp>
      <p:sp>
        <p:nvSpPr>
          <p:cNvPr id="126" name="Google Shape;126;p16"/>
          <p:cNvSpPr txBox="1"/>
          <p:nvPr/>
        </p:nvSpPr>
        <p:spPr>
          <a:xfrm>
            <a:off x="8423374" y="3505200"/>
            <a:ext cx="2901999"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Standard ACLs dictate visibility. Custom widgets respect `user_admin` and `manager` roles ensuring data privacy compliance.</a:t>
            </a:r>
            <a:endParaRPr/>
          </a:p>
        </p:txBody>
      </p:sp>
      <p:pic>
        <p:nvPicPr>
          <p:cNvPr id="127" name="Google Shape;127;p16" descr="image.png"/>
          <p:cNvPicPr preferRelativeResize="0"/>
          <p:nvPr/>
        </p:nvPicPr>
        <p:blipFill rotWithShape="1">
          <a:blip r:embed="rId7">
            <a:alphaModFix/>
          </a:blip>
          <a:srcRect/>
          <a:stretch/>
        </p:blipFill>
        <p:spPr>
          <a:xfrm>
            <a:off x="2117675" y="2286000"/>
            <a:ext cx="400050" cy="457200"/>
          </a:xfrm>
          <a:prstGeom prst="rect">
            <a:avLst/>
          </a:prstGeom>
          <a:noFill/>
          <a:ln>
            <a:noFill/>
          </a:ln>
        </p:spPr>
      </p:pic>
      <p:pic>
        <p:nvPicPr>
          <p:cNvPr id="128" name="Google Shape;128;p16" descr="image.png"/>
          <p:cNvPicPr preferRelativeResize="0"/>
          <p:nvPr/>
        </p:nvPicPr>
        <p:blipFill rotWithShape="1">
          <a:blip r:embed="rId8">
            <a:alphaModFix/>
          </a:blip>
          <a:srcRect/>
          <a:stretch/>
        </p:blipFill>
        <p:spPr>
          <a:xfrm>
            <a:off x="5838825" y="2286000"/>
            <a:ext cx="514350" cy="457200"/>
          </a:xfrm>
          <a:prstGeom prst="rect">
            <a:avLst/>
          </a:prstGeom>
          <a:noFill/>
          <a:ln>
            <a:noFill/>
          </a:ln>
        </p:spPr>
      </p:pic>
      <p:pic>
        <p:nvPicPr>
          <p:cNvPr id="129" name="Google Shape;129;p16" descr="image.png"/>
          <p:cNvPicPr preferRelativeResize="0"/>
          <p:nvPr/>
        </p:nvPicPr>
        <p:blipFill rotWithShape="1">
          <a:blip r:embed="rId9">
            <a:alphaModFix/>
          </a:blip>
          <a:srcRect/>
          <a:stretch/>
        </p:blipFill>
        <p:spPr>
          <a:xfrm>
            <a:off x="9645699" y="2286000"/>
            <a:ext cx="457200" cy="45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3"/>
        <p:cNvGrpSpPr/>
        <p:nvPr/>
      </p:nvGrpSpPr>
      <p:grpSpPr>
        <a:xfrm>
          <a:off x="0" y="0"/>
          <a:ext cx="0" cy="0"/>
          <a:chOff x="0" y="0"/>
          <a:chExt cx="0" cy="0"/>
        </a:xfrm>
      </p:grpSpPr>
      <p:pic>
        <p:nvPicPr>
          <p:cNvPr id="134" name="Google Shape;13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5" name="Google Shape;135;p17"/>
          <p:cNvSpPr txBox="1"/>
          <p:nvPr/>
        </p:nvSpPr>
        <p:spPr>
          <a:xfrm>
            <a:off x="762000" y="762000"/>
            <a:ext cx="48006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Urbanist"/>
                <a:ea typeface="Urbanist"/>
                <a:cs typeface="Urbanist"/>
                <a:sym typeface="Urbanist"/>
              </a:rPr>
              <a:t>The Skills Hub</a:t>
            </a:r>
            <a:endParaRPr dirty="0"/>
          </a:p>
        </p:txBody>
      </p:sp>
      <p:sp>
        <p:nvSpPr>
          <p:cNvPr id="137" name="Google Shape;137;p17"/>
          <p:cNvSpPr txBox="1"/>
          <p:nvPr/>
        </p:nvSpPr>
        <p:spPr>
          <a:xfrm>
            <a:off x="762000" y="1924050"/>
            <a:ext cx="457200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CBD5E1"/>
                </a:solidFill>
                <a:latin typeface="Urbanist Light"/>
                <a:ea typeface="Urbanist Light"/>
                <a:cs typeface="Urbanist Light"/>
                <a:sym typeface="Urbanist Light"/>
              </a:rPr>
              <a:t>We are introducing a unified portal experience on the Service Portal.</a:t>
            </a:r>
            <a:endParaRPr dirty="0"/>
          </a:p>
        </p:txBody>
      </p:sp>
      <p:sp>
        <p:nvSpPr>
          <p:cNvPr id="138" name="Google Shape;138;p17"/>
          <p:cNvSpPr txBox="1"/>
          <p:nvPr/>
        </p:nvSpPr>
        <p:spPr>
          <a:xfrm>
            <a:off x="762000" y="2914650"/>
            <a:ext cx="457200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Instead of navigating complex backend lists, users interact with a modern React/Angular widget interface. This "Hub" acts as the single point of entry for self-assessment, peer discovery, and manager reviews.</a:t>
            </a:r>
            <a:endParaRPr/>
          </a:p>
        </p:txBody>
      </p:sp>
      <p:sp>
        <p:nvSpPr>
          <p:cNvPr id="139" name="Google Shape;139;p17"/>
          <p:cNvSpPr txBox="1"/>
          <p:nvPr/>
        </p:nvSpPr>
        <p:spPr>
          <a:xfrm>
            <a:off x="762000" y="4819650"/>
            <a:ext cx="4572000" cy="30480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Mobile Responsive</a:t>
            </a:r>
            <a:endParaRPr/>
          </a:p>
        </p:txBody>
      </p:sp>
      <p:sp>
        <p:nvSpPr>
          <p:cNvPr id="140" name="Google Shape;140;p17"/>
          <p:cNvSpPr txBox="1"/>
          <p:nvPr/>
        </p:nvSpPr>
        <p:spPr>
          <a:xfrm>
            <a:off x="762000" y="5267325"/>
            <a:ext cx="4572000" cy="30480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Native Search Integration</a:t>
            </a:r>
            <a:endParaRPr/>
          </a:p>
        </p:txBody>
      </p:sp>
      <p:pic>
        <p:nvPicPr>
          <p:cNvPr id="141" name="Google Shape;141;p17" descr="image.png"/>
          <p:cNvPicPr preferRelativeResize="0"/>
          <p:nvPr/>
        </p:nvPicPr>
        <p:blipFill rotWithShape="1">
          <a:blip r:embed="rId4">
            <a:alphaModFix/>
          </a:blip>
          <a:srcRect/>
          <a:stretch/>
        </p:blipFill>
        <p:spPr>
          <a:xfrm>
            <a:off x="762000" y="4872037"/>
            <a:ext cx="171450" cy="200025"/>
          </a:xfrm>
          <a:prstGeom prst="rect">
            <a:avLst/>
          </a:prstGeom>
          <a:noFill/>
          <a:ln>
            <a:noFill/>
          </a:ln>
        </p:spPr>
      </p:pic>
      <p:pic>
        <p:nvPicPr>
          <p:cNvPr id="142" name="Google Shape;142;p17" descr="image.png"/>
          <p:cNvPicPr preferRelativeResize="0"/>
          <p:nvPr/>
        </p:nvPicPr>
        <p:blipFill rotWithShape="1">
          <a:blip r:embed="rId4">
            <a:alphaModFix/>
          </a:blip>
          <a:srcRect/>
          <a:stretch/>
        </p:blipFill>
        <p:spPr>
          <a:xfrm>
            <a:off x="762000" y="5319712"/>
            <a:ext cx="171450" cy="200025"/>
          </a:xfrm>
          <a:prstGeom prst="rect">
            <a:avLst/>
          </a:prstGeom>
          <a:noFill/>
          <a:ln>
            <a:noFill/>
          </a:ln>
        </p:spPr>
      </p:pic>
      <p:pic>
        <p:nvPicPr>
          <p:cNvPr id="2" name="Picture 1">
            <a:extLst>
              <a:ext uri="{FF2B5EF4-FFF2-40B4-BE49-F238E27FC236}">
                <a16:creationId xmlns:a16="http://schemas.microsoft.com/office/drawing/2014/main" id="{3A812460-8C03-4CCD-F433-F496988DF290}"/>
              </a:ext>
            </a:extLst>
          </p:cNvPr>
          <p:cNvPicPr>
            <a:picLocks noChangeAspect="1"/>
          </p:cNvPicPr>
          <p:nvPr/>
        </p:nvPicPr>
        <p:blipFill>
          <a:blip r:embed="rId5"/>
          <a:stretch>
            <a:fillRect/>
          </a:stretch>
        </p:blipFill>
        <p:spPr>
          <a:xfrm>
            <a:off x="6019081" y="762000"/>
            <a:ext cx="5487838" cy="3053677"/>
          </a:xfrm>
          <a:prstGeom prst="rect">
            <a:avLst/>
          </a:prstGeom>
        </p:spPr>
      </p:pic>
      <p:pic>
        <p:nvPicPr>
          <p:cNvPr id="3" name="Picture 2">
            <a:extLst>
              <a:ext uri="{FF2B5EF4-FFF2-40B4-BE49-F238E27FC236}">
                <a16:creationId xmlns:a16="http://schemas.microsoft.com/office/drawing/2014/main" id="{9ED611B6-97C2-28A8-C059-96E72043FF7D}"/>
              </a:ext>
            </a:extLst>
          </p:cNvPr>
          <p:cNvPicPr>
            <a:picLocks noChangeAspect="1"/>
          </p:cNvPicPr>
          <p:nvPr/>
        </p:nvPicPr>
        <p:blipFill>
          <a:blip r:embed="rId6"/>
          <a:stretch>
            <a:fillRect/>
          </a:stretch>
        </p:blipFill>
        <p:spPr>
          <a:xfrm>
            <a:off x="6019081" y="4000514"/>
            <a:ext cx="5487838" cy="23793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9" name="Google Shape;149;p18"/>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A) Separating Capability from Interest</a:t>
            </a:r>
            <a:endParaRPr/>
          </a:p>
        </p:txBody>
      </p:sp>
      <p:sp>
        <p:nvSpPr>
          <p:cNvPr id="150" name="Google Shape;150;p18"/>
          <p:cNvSpPr/>
          <p:nvPr/>
        </p:nvSpPr>
        <p:spPr>
          <a:xfrm>
            <a:off x="571500" y="571500"/>
            <a:ext cx="47625" cy="5524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8"/>
          <p:cNvSpPr txBox="1"/>
          <p:nvPr/>
        </p:nvSpPr>
        <p:spPr>
          <a:xfrm>
            <a:off x="571500" y="2414587"/>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Urbanist"/>
                <a:ea typeface="Urbanist"/>
                <a:cs typeface="Urbanist"/>
                <a:sym typeface="Urbanist"/>
              </a:rPr>
              <a:t>The "Burnout" Factor</a:t>
            </a:r>
            <a:endParaRPr/>
          </a:p>
        </p:txBody>
      </p:sp>
      <p:sp>
        <p:nvSpPr>
          <p:cNvPr id="152" name="Google Shape;152;p18"/>
          <p:cNvSpPr txBox="1"/>
          <p:nvPr/>
        </p:nvSpPr>
        <p:spPr>
          <a:xfrm>
            <a:off x="571500" y="2928937"/>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Standard tools only track </a:t>
            </a:r>
            <a:r>
              <a:rPr lang="en-US" sz="1500" b="0" i="1" u="none" strike="noStrike" cap="none">
                <a:solidFill>
                  <a:srgbClr val="CBD5E1"/>
                </a:solidFill>
                <a:latin typeface="Urbanist Light"/>
                <a:ea typeface="Urbanist Light"/>
                <a:cs typeface="Urbanist Light"/>
                <a:sym typeface="Urbanist Light"/>
              </a:rPr>
              <a:t>proficiency</a:t>
            </a:r>
            <a:r>
              <a:rPr lang="en-US" sz="1500" b="0" i="0" u="none" strike="noStrike" cap="none">
                <a:solidFill>
                  <a:srgbClr val="CBD5E1"/>
                </a:solidFill>
                <a:latin typeface="Urbanist Light"/>
                <a:ea typeface="Urbanist Light"/>
                <a:cs typeface="Urbanist Light"/>
                <a:sym typeface="Urbanist Light"/>
              </a:rPr>
              <a:t> (Can I do it?). We are adding a dimension for </a:t>
            </a:r>
            <a:r>
              <a:rPr lang="en-US" sz="1500" b="0" i="1" u="none" strike="noStrike" cap="none">
                <a:solidFill>
                  <a:srgbClr val="CBD5E1"/>
                </a:solidFill>
                <a:latin typeface="Urbanist Light"/>
                <a:ea typeface="Urbanist Light"/>
                <a:cs typeface="Urbanist Light"/>
                <a:sym typeface="Urbanist Light"/>
              </a:rPr>
              <a:t>interest</a:t>
            </a:r>
            <a:r>
              <a:rPr lang="en-US" sz="1500" b="0" i="0" u="none" strike="noStrike" cap="none">
                <a:solidFill>
                  <a:srgbClr val="CBD5E1"/>
                </a:solidFill>
                <a:latin typeface="Urbanist Light"/>
                <a:ea typeface="Urbanist Light"/>
                <a:cs typeface="Urbanist Light"/>
                <a:sym typeface="Urbanist Light"/>
              </a:rPr>
              <a:t> (Do I want to do it?).</a:t>
            </a:r>
            <a:endParaRPr/>
          </a:p>
        </p:txBody>
      </p:sp>
      <p:sp>
        <p:nvSpPr>
          <p:cNvPr id="153" name="Google Shape;153;p18"/>
          <p:cNvSpPr txBox="1"/>
          <p:nvPr/>
        </p:nvSpPr>
        <p:spPr>
          <a:xfrm>
            <a:off x="571500" y="3729037"/>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This allows resource managers to avoid assigning burnt-out experts to new projects, improving retention.</a:t>
            </a:r>
            <a:endParaRPr/>
          </a:p>
        </p:txBody>
      </p:sp>
      <p:sp>
        <p:nvSpPr>
          <p:cNvPr id="154" name="Google Shape;154;p18"/>
          <p:cNvSpPr/>
          <p:nvPr/>
        </p:nvSpPr>
        <p:spPr>
          <a:xfrm>
            <a:off x="571500" y="4624387"/>
            <a:ext cx="5238750" cy="75247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8"/>
          <p:cNvSpPr txBox="1"/>
          <p:nvPr/>
        </p:nvSpPr>
        <p:spPr>
          <a:xfrm>
            <a:off x="762000" y="4814887"/>
            <a:ext cx="4857750"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Urbanist"/>
                <a:ea typeface="Urbanist"/>
                <a:cs typeface="Urbanist"/>
                <a:sym typeface="Urbanist"/>
              </a:rPr>
              <a:t>Technical Implementation:</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F8FAFC"/>
                </a:solidFill>
                <a:latin typeface="Urbanist"/>
                <a:ea typeface="Urbanist"/>
                <a:cs typeface="Urbanist"/>
                <a:sym typeface="Urbanist"/>
              </a:rPr>
              <a:t> New field u_interest_level added to sys_user_has_skill table.</a:t>
            </a:r>
            <a:endParaRPr/>
          </a:p>
        </p:txBody>
      </p:sp>
      <p:sp>
        <p:nvSpPr>
          <p:cNvPr id="156" name="Google Shape;156;p18"/>
          <p:cNvSpPr/>
          <p:nvPr/>
        </p:nvSpPr>
        <p:spPr>
          <a:xfrm>
            <a:off x="571500" y="4624387"/>
            <a:ext cx="38100" cy="75247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20A3C175-E96B-9BEF-6BB9-AEC9505B31F0}"/>
              </a:ext>
            </a:extLst>
          </p:cNvPr>
          <p:cNvPicPr>
            <a:picLocks noChangeAspect="1"/>
          </p:cNvPicPr>
          <p:nvPr/>
        </p:nvPicPr>
        <p:blipFill>
          <a:blip r:embed="rId4"/>
          <a:stretch>
            <a:fillRect/>
          </a:stretch>
        </p:blipFill>
        <p:spPr>
          <a:xfrm>
            <a:off x="6117127" y="1979652"/>
            <a:ext cx="5628455" cy="3498769"/>
          </a:xfrm>
          <a:prstGeom prst="roundRect">
            <a:avLst>
              <a:gd name="adj" fmla="val 4586"/>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1"/>
        <p:cNvGrpSpPr/>
        <p:nvPr/>
      </p:nvGrpSpPr>
      <p:grpSpPr>
        <a:xfrm>
          <a:off x="0" y="0"/>
          <a:ext cx="0" cy="0"/>
          <a:chOff x="0" y="0"/>
          <a:chExt cx="0" cy="0"/>
        </a:xfrm>
      </p:grpSpPr>
      <p:pic>
        <p:nvPicPr>
          <p:cNvPr id="162" name="Google Shape;162;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3" name="Google Shape;163;p19" descr="image.png"/>
          <p:cNvPicPr preferRelativeResize="0"/>
          <p:nvPr/>
        </p:nvPicPr>
        <p:blipFill rotWithShape="1">
          <a:blip r:embed="rId4">
            <a:alphaModFix/>
          </a:blip>
          <a:srcRect/>
          <a:stretch/>
        </p:blipFill>
        <p:spPr>
          <a:xfrm>
            <a:off x="1047750" y="1752600"/>
            <a:ext cx="4286250" cy="4286250"/>
          </a:xfrm>
          <a:prstGeom prst="rect">
            <a:avLst/>
          </a:prstGeom>
          <a:noFill/>
          <a:ln>
            <a:noFill/>
          </a:ln>
        </p:spPr>
      </p:pic>
      <p:sp>
        <p:nvSpPr>
          <p:cNvPr id="164" name="Google Shape;164;p19"/>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B) The Trust Model: Peer Validation</a:t>
            </a:r>
            <a:endParaRPr/>
          </a:p>
        </p:txBody>
      </p:sp>
      <p:sp>
        <p:nvSpPr>
          <p:cNvPr id="165" name="Google Shape;165;p19"/>
          <p:cNvSpPr/>
          <p:nvPr/>
        </p:nvSpPr>
        <p:spPr>
          <a:xfrm>
            <a:off x="571500" y="571500"/>
            <a:ext cx="47625" cy="5524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6" name="Google Shape;166;p19" descr="image.png"/>
          <p:cNvPicPr preferRelativeResize="0"/>
          <p:nvPr/>
        </p:nvPicPr>
        <p:blipFill rotWithShape="1">
          <a:blip r:embed="rId5">
            <a:alphaModFix/>
          </a:blip>
          <a:srcRect/>
          <a:stretch/>
        </p:blipFill>
        <p:spPr>
          <a:xfrm>
            <a:off x="1057275" y="1762125"/>
            <a:ext cx="4267200" cy="4267200"/>
          </a:xfrm>
          <a:prstGeom prst="rect">
            <a:avLst/>
          </a:prstGeom>
          <a:noFill/>
          <a:ln>
            <a:noFill/>
          </a:ln>
        </p:spPr>
      </p:pic>
      <p:sp>
        <p:nvSpPr>
          <p:cNvPr id="167" name="Google Shape;167;p19"/>
          <p:cNvSpPr txBox="1"/>
          <p:nvPr/>
        </p:nvSpPr>
        <p:spPr>
          <a:xfrm>
            <a:off x="6381750" y="2183159"/>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Urbanist"/>
                <a:ea typeface="Urbanist"/>
                <a:cs typeface="Urbanist"/>
                <a:sym typeface="Urbanist"/>
              </a:rPr>
              <a:t>Crowdsourced Verification</a:t>
            </a:r>
            <a:endParaRPr/>
          </a:p>
        </p:txBody>
      </p:sp>
      <p:sp>
        <p:nvSpPr>
          <p:cNvPr id="168" name="Google Shape;168;p19"/>
          <p:cNvSpPr txBox="1"/>
          <p:nvPr/>
        </p:nvSpPr>
        <p:spPr>
          <a:xfrm>
            <a:off x="6381750" y="2697509"/>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To solve the "resume inflation" problem, we introduce Peer Endorsements. Similar to LinkedIn, users can validate their colleagues' skills.</a:t>
            </a:r>
            <a:endParaRPr/>
          </a:p>
        </p:txBody>
      </p:sp>
      <p:sp>
        <p:nvSpPr>
          <p:cNvPr id="169" name="Google Shape;169;p19"/>
          <p:cNvSpPr txBox="1"/>
          <p:nvPr/>
        </p:nvSpPr>
        <p:spPr>
          <a:xfrm>
            <a:off x="6381750" y="5212109"/>
            <a:ext cx="523875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1" u="none" strike="noStrike" cap="none">
                <a:solidFill>
                  <a:srgbClr val="94A3B8"/>
                </a:solidFill>
                <a:latin typeface="Urbanist Light"/>
                <a:ea typeface="Urbanist Light"/>
                <a:cs typeface="Urbanist Light"/>
                <a:sym typeface="Urbanist Light"/>
              </a:rPr>
              <a:t>Note: Requires a new M2M table to track unique endorsers.</a:t>
            </a:r>
            <a:endParaRPr/>
          </a:p>
        </p:txBody>
      </p:sp>
      <p:sp>
        <p:nvSpPr>
          <p:cNvPr id="170" name="Google Shape;170;p19"/>
          <p:cNvSpPr txBox="1"/>
          <p:nvPr/>
        </p:nvSpPr>
        <p:spPr>
          <a:xfrm>
            <a:off x="6734175" y="3802409"/>
            <a:ext cx="285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a:t>
            </a:r>
            <a:endParaRPr/>
          </a:p>
        </p:txBody>
      </p:sp>
      <p:sp>
        <p:nvSpPr>
          <p:cNvPr id="171" name="Google Shape;171;p19"/>
          <p:cNvSpPr txBox="1"/>
          <p:nvPr/>
        </p:nvSpPr>
        <p:spPr>
          <a:xfrm>
            <a:off x="6762750" y="3802409"/>
            <a:ext cx="4857750" cy="609600"/>
          </a:xfrm>
          <a:prstGeom prst="rect">
            <a:avLst/>
          </a:prstGeom>
          <a:noFill/>
          <a:ln>
            <a:noFill/>
          </a:ln>
        </p:spPr>
        <p:txBody>
          <a:bodyPr spcFirstLastPara="1" wrap="square" lIns="285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Validation weight is calculated based on the endorser's own proficiency.</a:t>
            </a:r>
            <a:endParaRPr/>
          </a:p>
        </p:txBody>
      </p:sp>
      <p:sp>
        <p:nvSpPr>
          <p:cNvPr id="172" name="Google Shape;172;p19"/>
          <p:cNvSpPr txBox="1"/>
          <p:nvPr/>
        </p:nvSpPr>
        <p:spPr>
          <a:xfrm>
            <a:off x="6734175" y="4412009"/>
            <a:ext cx="285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a:t>
            </a:r>
            <a:endParaRPr/>
          </a:p>
        </p:txBody>
      </p:sp>
      <p:sp>
        <p:nvSpPr>
          <p:cNvPr id="173" name="Google Shape;173;p19"/>
          <p:cNvSpPr txBox="1"/>
          <p:nvPr/>
        </p:nvSpPr>
        <p:spPr>
          <a:xfrm>
            <a:off x="6762750" y="4412009"/>
            <a:ext cx="4857750" cy="609600"/>
          </a:xfrm>
          <a:prstGeom prst="rect">
            <a:avLst/>
          </a:prstGeom>
          <a:noFill/>
          <a:ln>
            <a:noFill/>
          </a:ln>
        </p:spPr>
        <p:txBody>
          <a:bodyPr spcFirstLastPara="1" wrap="square" lIns="285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Prevents the "echo chamber" of low-skill users endorsing each other.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7"/>
        <p:cNvGrpSpPr/>
        <p:nvPr/>
      </p:nvGrpSpPr>
      <p:grpSpPr>
        <a:xfrm>
          <a:off x="0" y="0"/>
          <a:ext cx="0" cy="0"/>
          <a:chOff x="0" y="0"/>
          <a:chExt cx="0" cy="0"/>
        </a:xfrm>
      </p:grpSpPr>
      <p:pic>
        <p:nvPicPr>
          <p:cNvPr id="178" name="Google Shape;178;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9" name="Google Shape;179;p20" descr="image.png"/>
          <p:cNvPicPr preferRelativeResize="0"/>
          <p:nvPr/>
        </p:nvPicPr>
        <p:blipFill rotWithShape="1">
          <a:blip r:embed="rId4">
            <a:alphaModFix/>
          </a:blip>
          <a:srcRect/>
          <a:stretch/>
        </p:blipFill>
        <p:spPr>
          <a:xfrm>
            <a:off x="571500" y="1228725"/>
            <a:ext cx="5238750" cy="5334000"/>
          </a:xfrm>
          <a:prstGeom prst="rect">
            <a:avLst/>
          </a:prstGeom>
          <a:noFill/>
          <a:ln>
            <a:noFill/>
          </a:ln>
        </p:spPr>
      </p:pic>
      <p:pic>
        <p:nvPicPr>
          <p:cNvPr id="180" name="Google Shape;180;p20" descr="image.png"/>
          <p:cNvPicPr preferRelativeResize="0"/>
          <p:nvPr/>
        </p:nvPicPr>
        <p:blipFill rotWithShape="1">
          <a:blip r:embed="rId5">
            <a:alphaModFix/>
          </a:blip>
          <a:srcRect/>
          <a:stretch/>
        </p:blipFill>
        <p:spPr>
          <a:xfrm>
            <a:off x="6381750" y="1543050"/>
            <a:ext cx="5238750" cy="4705350"/>
          </a:xfrm>
          <a:prstGeom prst="rect">
            <a:avLst/>
          </a:prstGeom>
          <a:noFill/>
          <a:ln>
            <a:noFill/>
          </a:ln>
        </p:spPr>
      </p:pic>
      <p:pic>
        <p:nvPicPr>
          <p:cNvPr id="181" name="Google Shape;181;p20" descr="image.png"/>
          <p:cNvPicPr preferRelativeResize="0"/>
          <p:nvPr/>
        </p:nvPicPr>
        <p:blipFill rotWithShape="1">
          <a:blip r:embed="rId6">
            <a:alphaModFix/>
          </a:blip>
          <a:srcRect/>
          <a:stretch/>
        </p:blipFill>
        <p:spPr>
          <a:xfrm>
            <a:off x="962025" y="1619250"/>
            <a:ext cx="4457700" cy="2381250"/>
          </a:xfrm>
          <a:prstGeom prst="rect">
            <a:avLst/>
          </a:prstGeom>
          <a:noFill/>
          <a:ln>
            <a:noFill/>
          </a:ln>
        </p:spPr>
      </p:pic>
      <p:sp>
        <p:nvSpPr>
          <p:cNvPr id="182" name="Google Shape;182;p20"/>
          <p:cNvSpPr txBox="1"/>
          <p:nvPr/>
        </p:nvSpPr>
        <p:spPr>
          <a:xfrm>
            <a:off x="762000" y="295275"/>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D) Intelligent Resource Search</a:t>
            </a:r>
            <a:endParaRPr/>
          </a:p>
        </p:txBody>
      </p:sp>
      <p:sp>
        <p:nvSpPr>
          <p:cNvPr id="183" name="Google Shape;183;p20"/>
          <p:cNvSpPr/>
          <p:nvPr/>
        </p:nvSpPr>
        <p:spPr>
          <a:xfrm>
            <a:off x="571500" y="295275"/>
            <a:ext cx="47625" cy="5524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20"/>
          <p:cNvSpPr txBox="1"/>
          <p:nvPr/>
        </p:nvSpPr>
        <p:spPr>
          <a:xfrm>
            <a:off x="962025" y="4191000"/>
            <a:ext cx="468058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Urbanist"/>
                <a:ea typeface="Urbanist"/>
                <a:cs typeface="Urbanist"/>
                <a:sym typeface="Urbanist"/>
              </a:rPr>
              <a:t>The Algorithm</a:t>
            </a:r>
            <a:endParaRPr/>
          </a:p>
        </p:txBody>
      </p:sp>
      <p:sp>
        <p:nvSpPr>
          <p:cNvPr id="185" name="Google Shape;185;p20"/>
          <p:cNvSpPr txBox="1"/>
          <p:nvPr/>
        </p:nvSpPr>
        <p:spPr>
          <a:xfrm>
            <a:off x="962025" y="4705350"/>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The "Find an Expert" search engine doesn't just look for keywords. It ranks results using a weighted formula:</a:t>
            </a:r>
            <a:endParaRPr/>
          </a:p>
        </p:txBody>
      </p:sp>
      <p:sp>
        <p:nvSpPr>
          <p:cNvPr id="186" name="Google Shape;186;p20"/>
          <p:cNvSpPr txBox="1"/>
          <p:nvPr/>
        </p:nvSpPr>
        <p:spPr>
          <a:xfrm>
            <a:off x="6772275" y="1933575"/>
            <a:ext cx="468058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Urbanist"/>
                <a:ea typeface="Urbanist"/>
                <a:cs typeface="Urbanist"/>
                <a:sym typeface="Urbanist"/>
              </a:rPr>
              <a:t>Contextual Filtering</a:t>
            </a:r>
            <a:endParaRPr/>
          </a:p>
        </p:txBody>
      </p:sp>
      <p:sp>
        <p:nvSpPr>
          <p:cNvPr id="187" name="Google Shape;187;p20"/>
          <p:cNvSpPr txBox="1"/>
          <p:nvPr/>
        </p:nvSpPr>
        <p:spPr>
          <a:xfrm>
            <a:off x="6772275" y="2590800"/>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Search results allow filtering by </a:t>
            </a:r>
            <a:r>
              <a:rPr lang="en-US" sz="1500" b="0" i="0" u="none" strike="noStrike" cap="none">
                <a:solidFill>
                  <a:srgbClr val="CBD5E1"/>
                </a:solidFill>
                <a:latin typeface="Urbanist"/>
                <a:ea typeface="Urbanist"/>
                <a:cs typeface="Urbanist"/>
                <a:sym typeface="Urbanist"/>
              </a:rPr>
              <a:t>Interest Level</a:t>
            </a:r>
            <a:r>
              <a:rPr lang="en-US" sz="1500" b="0" i="0" u="none" strike="noStrike" cap="none">
                <a:solidFill>
                  <a:srgbClr val="CBD5E1"/>
                </a:solidFill>
                <a:latin typeface="Urbanist Light"/>
                <a:ea typeface="Urbanist Light"/>
                <a:cs typeface="Urbanist Light"/>
                <a:sym typeface="Urbanist Light"/>
              </a:rPr>
              <a:t>. This ensures you find an expert who is actually eager to join your project.</a:t>
            </a:r>
            <a:endParaRPr/>
          </a:p>
        </p:txBody>
      </p:sp>
      <p:sp>
        <p:nvSpPr>
          <p:cNvPr id="188" name="Google Shape;188;p20"/>
          <p:cNvSpPr/>
          <p:nvPr/>
        </p:nvSpPr>
        <p:spPr>
          <a:xfrm>
            <a:off x="6772275" y="3886200"/>
            <a:ext cx="44577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20"/>
          <p:cNvSpPr txBox="1"/>
          <p:nvPr/>
        </p:nvSpPr>
        <p:spPr>
          <a:xfrm>
            <a:off x="6772275" y="4095750"/>
            <a:ext cx="468058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Urbanist"/>
                <a:ea typeface="Urbanist"/>
                <a:cs typeface="Urbanist"/>
                <a:sym typeface="Urbanist"/>
              </a:rPr>
              <a:t>Privacy First</a:t>
            </a:r>
            <a:endParaRPr/>
          </a:p>
        </p:txBody>
      </p:sp>
      <p:sp>
        <p:nvSpPr>
          <p:cNvPr id="190" name="Google Shape;190;p20"/>
          <p:cNvSpPr txBox="1"/>
          <p:nvPr/>
        </p:nvSpPr>
        <p:spPr>
          <a:xfrm>
            <a:off x="6772275" y="4752975"/>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Light"/>
                <a:ea typeface="Urbanist Light"/>
                <a:cs typeface="Urbanist Light"/>
                <a:sym typeface="Urbanist Light"/>
              </a:rPr>
              <a:t>Users can toggle "Hide from Search" in their profile if they are not currently open to mentorship or new project requests.</a:t>
            </a:r>
            <a:endParaRPr/>
          </a:p>
        </p:txBody>
      </p:sp>
      <p:pic>
        <p:nvPicPr>
          <p:cNvPr id="191" name="Google Shape;191;p20" descr="image.png"/>
          <p:cNvPicPr preferRelativeResize="0"/>
          <p:nvPr/>
        </p:nvPicPr>
        <p:blipFill rotWithShape="1">
          <a:blip r:embed="rId7">
            <a:alphaModFix/>
          </a:blip>
          <a:srcRect/>
          <a:stretch/>
        </p:blipFill>
        <p:spPr>
          <a:xfrm>
            <a:off x="971550" y="1628775"/>
            <a:ext cx="4438650" cy="2362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5"/>
        <p:cNvGrpSpPr/>
        <p:nvPr/>
      </p:nvGrpSpPr>
      <p:grpSpPr>
        <a:xfrm>
          <a:off x="0" y="0"/>
          <a:ext cx="0" cy="0"/>
          <a:chOff x="0" y="0"/>
          <a:chExt cx="0" cy="0"/>
        </a:xfrm>
      </p:grpSpPr>
      <p:pic>
        <p:nvPicPr>
          <p:cNvPr id="196" name="Google Shape;196;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7" name="Google Shape;197;p21"/>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Schema Modifications</a:t>
            </a:r>
            <a:endParaRPr/>
          </a:p>
        </p:txBody>
      </p:sp>
      <p:sp>
        <p:nvSpPr>
          <p:cNvPr id="198" name="Google Shape;198;p21"/>
          <p:cNvSpPr/>
          <p:nvPr/>
        </p:nvSpPr>
        <p:spPr>
          <a:xfrm>
            <a:off x="571500" y="571500"/>
            <a:ext cx="47625" cy="5524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99" name="Google Shape;199;p21"/>
          <p:cNvGraphicFramePr/>
          <p:nvPr>
            <p:extLst>
              <p:ext uri="{D42A27DB-BD31-4B8C-83A1-F6EECF244321}">
                <p14:modId xmlns:p14="http://schemas.microsoft.com/office/powerpoint/2010/main" val="2279231605"/>
              </p:ext>
            </p:extLst>
          </p:nvPr>
        </p:nvGraphicFramePr>
        <p:xfrm>
          <a:off x="571500" y="1702147"/>
          <a:ext cx="11049000" cy="3705200"/>
        </p:xfrm>
        <a:graphic>
          <a:graphicData uri="http://schemas.openxmlformats.org/drawingml/2006/table">
            <a:tbl>
              <a:tblPr firstRow="1" bandRow="1">
                <a:noFill/>
                <a:tableStyleId>{337DE266-7501-4D6F-9A31-4D871C222896}</a:tableStyleId>
              </a:tblPr>
              <a:tblGrid>
                <a:gridCol w="2305050">
                  <a:extLst>
                    <a:ext uri="{9D8B030D-6E8A-4147-A177-3AD203B41FA5}">
                      <a16:colId xmlns:a16="http://schemas.microsoft.com/office/drawing/2014/main" val="20000"/>
                    </a:ext>
                  </a:extLst>
                </a:gridCol>
                <a:gridCol w="117767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gridCol w="6604250">
                  <a:extLst>
                    <a:ext uri="{9D8B030D-6E8A-4147-A177-3AD203B41FA5}">
                      <a16:colId xmlns:a16="http://schemas.microsoft.com/office/drawing/2014/main" val="20003"/>
                    </a:ext>
                  </a:extLst>
                </a:gridCol>
              </a:tblGrid>
              <a:tr h="926300">
                <a:tc>
                  <a:txBody>
                    <a:bodyPr/>
                    <a:lstStyle/>
                    <a:p>
                      <a:pPr marL="0" marR="0" lvl="0" indent="0" algn="l" rtl="0">
                        <a:spcBef>
                          <a:spcPts val="0"/>
                        </a:spcBef>
                        <a:spcAft>
                          <a:spcPts val="0"/>
                        </a:spcAft>
                        <a:buNone/>
                      </a:pPr>
                      <a:r>
                        <a:rPr lang="en-US" sz="1500" b="0" i="0" u="none" strike="noStrike" cap="none">
                          <a:solidFill>
                            <a:schemeClr val="tx1"/>
                          </a:solidFill>
                          <a:latin typeface="Urbanist SemiBold"/>
                          <a:ea typeface="Urbanist SemiBold"/>
                          <a:cs typeface="Urbanist SemiBold"/>
                          <a:sym typeface="Urbanist SemiBold"/>
                        </a:rPr>
                        <a:t>Table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SemiBold"/>
                          <a:ea typeface="Urbanist SemiBold"/>
                          <a:cs typeface="Urbanist SemiBold"/>
                          <a:sym typeface="Urbanist SemiBold"/>
                        </a:rPr>
                        <a:t>Type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SemiBold"/>
                          <a:ea typeface="Urbanist SemiBold"/>
                          <a:cs typeface="Urbanist SemiBold"/>
                          <a:sym typeface="Urbanist SemiBold"/>
                        </a:rPr>
                        <a:t>Action</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SemiBold"/>
                          <a:ea typeface="Urbanist SemiBold"/>
                          <a:cs typeface="Urbanist SemiBold"/>
                          <a:sym typeface="Urbanist SemiBold"/>
                        </a:rPr>
                        <a:t>Purpose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926300">
                <a:tc>
                  <a:txBody>
                    <a:bodyPr/>
                    <a:lstStyle/>
                    <a:p>
                      <a:pPr marL="0" marR="0" lvl="0" indent="0" algn="l" rtl="0">
                        <a:spcBef>
                          <a:spcPts val="0"/>
                        </a:spcBef>
                        <a:spcAft>
                          <a:spcPts val="0"/>
                        </a:spcAft>
                        <a:buNone/>
                      </a:pPr>
                      <a:r>
                        <a:rPr lang="en-US" sz="1500" b="1" i="0" u="none" strike="noStrike" cap="none" dirty="0" err="1">
                          <a:solidFill>
                            <a:schemeClr val="tx1"/>
                          </a:solidFill>
                          <a:latin typeface="Urbanist"/>
                          <a:ea typeface="Urbanist"/>
                          <a:cs typeface="Urbanist"/>
                          <a:sym typeface="Urbanist"/>
                        </a:rPr>
                        <a:t>sys_user_has_skill</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Light"/>
                          <a:ea typeface="Urbanist Light"/>
                          <a:cs typeface="Urbanist Light"/>
                          <a:sym typeface="Urbanist Light"/>
                        </a:rPr>
                        <a:t>OOB Core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Light"/>
                          <a:ea typeface="Urbanist Light"/>
                          <a:cs typeface="Urbanist Light"/>
                          <a:sym typeface="Urbanist Light"/>
                        </a:rPr>
                        <a:t>Extend</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Light"/>
                          <a:ea typeface="Urbanist Light"/>
                          <a:cs typeface="Urbanist Light"/>
                          <a:sym typeface="Urbanist Light"/>
                        </a:rPr>
                        <a:t>Add u_interest_level and u_last_manager_validation.</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926300">
                <a:tc>
                  <a:txBody>
                    <a:bodyPr/>
                    <a:lstStyle/>
                    <a:p>
                      <a:pPr marL="0" marR="0" lvl="0" indent="0" algn="l" rtl="0">
                        <a:spcBef>
                          <a:spcPts val="0"/>
                        </a:spcBef>
                        <a:spcAft>
                          <a:spcPts val="0"/>
                        </a:spcAft>
                        <a:buNone/>
                      </a:pPr>
                      <a:r>
                        <a:rPr lang="en-US" sz="1500" b="1" i="0" u="none" strike="noStrike" cap="none">
                          <a:solidFill>
                            <a:schemeClr val="tx1"/>
                          </a:solidFill>
                          <a:latin typeface="Urbanist"/>
                          <a:ea typeface="Urbanist"/>
                          <a:cs typeface="Urbanist"/>
                          <a:sym typeface="Urbanist"/>
                        </a:rPr>
                        <a:t>u_m2m_endorsement</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Light"/>
                          <a:ea typeface="Urbanist Light"/>
                          <a:cs typeface="Urbanist Light"/>
                          <a:sym typeface="Urbanist Light"/>
                        </a:rPr>
                        <a:t>Custom</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Light"/>
                          <a:ea typeface="Urbanist Light"/>
                          <a:cs typeface="Urbanist Light"/>
                          <a:sym typeface="Urbanist Light"/>
                        </a:rPr>
                        <a:t>Create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Light"/>
                          <a:ea typeface="Urbanist Light"/>
                          <a:cs typeface="Urbanist Light"/>
                          <a:sym typeface="Urbanist Light"/>
                        </a:rPr>
                        <a:t>Stores 1-to-1 relationships between an endorser and a user's skill. Prevents spamming.</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926300">
                <a:tc>
                  <a:txBody>
                    <a:bodyPr/>
                    <a:lstStyle/>
                    <a:p>
                      <a:pPr marL="0" marR="0" lvl="0" indent="0" algn="l" rtl="0">
                        <a:spcBef>
                          <a:spcPts val="0"/>
                        </a:spcBef>
                        <a:spcAft>
                          <a:spcPts val="0"/>
                        </a:spcAft>
                        <a:buNone/>
                      </a:pPr>
                      <a:r>
                        <a:rPr lang="en-US" sz="1500" b="1" i="0" u="none" strike="noStrike" cap="none">
                          <a:solidFill>
                            <a:schemeClr val="tx1"/>
                          </a:solidFill>
                          <a:latin typeface="Urbanist"/>
                          <a:ea typeface="Urbanist"/>
                          <a:cs typeface="Urbanist"/>
                          <a:sym typeface="Urbanist"/>
                        </a:rPr>
                        <a:t>cmn_skill</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Light"/>
                          <a:ea typeface="Urbanist Light"/>
                          <a:cs typeface="Urbanist Light"/>
                          <a:sym typeface="Urbanist Light"/>
                        </a:rPr>
                        <a:t>OOB Core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Urbanist Light"/>
                          <a:ea typeface="Urbanist Light"/>
                          <a:cs typeface="Urbanist Light"/>
                          <a:sym typeface="Urbanist Light"/>
                        </a:rPr>
                        <a:t>Config</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dirty="0">
                          <a:solidFill>
                            <a:schemeClr val="tx1"/>
                          </a:solidFill>
                          <a:latin typeface="Urbanist Light"/>
                          <a:ea typeface="Urbanist Light"/>
                          <a:cs typeface="Urbanist Light"/>
                          <a:sym typeface="Urbanist Light"/>
                        </a:rPr>
                        <a:t>Clean up hierarchy. No schema changes required.</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0" name="Google Shape;200;p21"/>
          <p:cNvSpPr txBox="1"/>
          <p:nvPr/>
        </p:nvSpPr>
        <p:spPr>
          <a:xfrm>
            <a:off x="571500" y="5693122"/>
            <a:ext cx="11049000" cy="243780"/>
          </a:xfrm>
          <a:prstGeom prst="rect">
            <a:avLst/>
          </a:prstGeom>
          <a:noFill/>
          <a:ln>
            <a:noFill/>
          </a:ln>
        </p:spPr>
        <p:txBody>
          <a:bodyPr spcFirstLastPara="1" wrap="square" lIns="15240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Urbanist Light"/>
                <a:ea typeface="Urbanist Light"/>
                <a:cs typeface="Urbanist Light"/>
                <a:sym typeface="Urbanist Light"/>
              </a:rPr>
              <a:t>By isolating endorsements in a custom M2M table, we avoid touching the OOB skill records excessively, ensuring simpler upgrades.</a:t>
            </a:r>
            <a:endParaRPr/>
          </a:p>
        </p:txBody>
      </p:sp>
      <p:sp>
        <p:nvSpPr>
          <p:cNvPr id="201" name="Google Shape;201;p21"/>
          <p:cNvSpPr/>
          <p:nvPr/>
        </p:nvSpPr>
        <p:spPr>
          <a:xfrm>
            <a:off x="571500" y="2378422"/>
            <a:ext cx="230505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2" name="Google Shape;202;p21"/>
          <p:cNvSpPr/>
          <p:nvPr/>
        </p:nvSpPr>
        <p:spPr>
          <a:xfrm>
            <a:off x="2876550" y="2378422"/>
            <a:ext cx="1177676"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3" name="Google Shape;203;p21"/>
          <p:cNvSpPr/>
          <p:nvPr/>
        </p:nvSpPr>
        <p:spPr>
          <a:xfrm>
            <a:off x="4054226" y="2378422"/>
            <a:ext cx="962025"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4" name="Google Shape;204;p21"/>
          <p:cNvSpPr/>
          <p:nvPr/>
        </p:nvSpPr>
        <p:spPr>
          <a:xfrm>
            <a:off x="5016251" y="2378422"/>
            <a:ext cx="6604248"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5" name="Google Shape;205;p21" descr="image.png"/>
          <p:cNvPicPr preferRelativeResize="0"/>
          <p:nvPr/>
        </p:nvPicPr>
        <p:blipFill rotWithShape="1">
          <a:blip r:embed="rId4">
            <a:alphaModFix/>
          </a:blip>
          <a:srcRect/>
          <a:stretch/>
        </p:blipFill>
        <p:spPr>
          <a:xfrm>
            <a:off x="571500" y="5731222"/>
            <a:ext cx="152400" cy="152400"/>
          </a:xfrm>
          <a:prstGeom prst="rect">
            <a:avLst/>
          </a:prstGeom>
          <a:noFill/>
          <a:ln>
            <a:noFill/>
          </a:ln>
        </p:spPr>
      </p:pic>
      <p:sp>
        <p:nvSpPr>
          <p:cNvPr id="206" name="Google Shape;206;p21"/>
          <p:cNvSpPr/>
          <p:nvPr/>
        </p:nvSpPr>
        <p:spPr>
          <a:xfrm>
            <a:off x="571500" y="3392834"/>
            <a:ext cx="23050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1"/>
          <p:cNvSpPr/>
          <p:nvPr/>
        </p:nvSpPr>
        <p:spPr>
          <a:xfrm>
            <a:off x="2876550" y="3392834"/>
            <a:ext cx="1177676"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21"/>
          <p:cNvSpPr/>
          <p:nvPr/>
        </p:nvSpPr>
        <p:spPr>
          <a:xfrm>
            <a:off x="4054226" y="3392834"/>
            <a:ext cx="96202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1"/>
          <p:cNvSpPr/>
          <p:nvPr/>
        </p:nvSpPr>
        <p:spPr>
          <a:xfrm>
            <a:off x="5016251" y="3392834"/>
            <a:ext cx="660424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21"/>
          <p:cNvSpPr/>
          <p:nvPr/>
        </p:nvSpPr>
        <p:spPr>
          <a:xfrm>
            <a:off x="571500" y="4392959"/>
            <a:ext cx="23050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1"/>
          <p:cNvSpPr/>
          <p:nvPr/>
        </p:nvSpPr>
        <p:spPr>
          <a:xfrm>
            <a:off x="2876550" y="4392959"/>
            <a:ext cx="1177676"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12;p21"/>
          <p:cNvSpPr/>
          <p:nvPr/>
        </p:nvSpPr>
        <p:spPr>
          <a:xfrm>
            <a:off x="4054226" y="4392959"/>
            <a:ext cx="96202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1"/>
          <p:cNvSpPr/>
          <p:nvPr/>
        </p:nvSpPr>
        <p:spPr>
          <a:xfrm>
            <a:off x="5016251" y="4392959"/>
            <a:ext cx="660424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21"/>
          <p:cNvSpPr/>
          <p:nvPr/>
        </p:nvSpPr>
        <p:spPr>
          <a:xfrm>
            <a:off x="571500" y="5393084"/>
            <a:ext cx="23050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1"/>
          <p:cNvSpPr/>
          <p:nvPr/>
        </p:nvSpPr>
        <p:spPr>
          <a:xfrm>
            <a:off x="2876550" y="5393084"/>
            <a:ext cx="1177676"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1"/>
          <p:cNvSpPr/>
          <p:nvPr/>
        </p:nvSpPr>
        <p:spPr>
          <a:xfrm>
            <a:off x="4054226" y="5393084"/>
            <a:ext cx="96202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1"/>
          <p:cNvSpPr/>
          <p:nvPr/>
        </p:nvSpPr>
        <p:spPr>
          <a:xfrm>
            <a:off x="5016251" y="5393084"/>
            <a:ext cx="660424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1"/>
        <p:cNvGrpSpPr/>
        <p:nvPr/>
      </p:nvGrpSpPr>
      <p:grpSpPr>
        <a:xfrm>
          <a:off x="0" y="0"/>
          <a:ext cx="0" cy="0"/>
          <a:chOff x="0" y="0"/>
          <a:chExt cx="0" cy="0"/>
        </a:xfrm>
      </p:grpSpPr>
      <p:pic>
        <p:nvPicPr>
          <p:cNvPr id="222" name="Google Shape;22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3" name="Google Shape;223;p22" descr="image.png"/>
          <p:cNvPicPr preferRelativeResize="0"/>
          <p:nvPr/>
        </p:nvPicPr>
        <p:blipFill rotWithShape="1">
          <a:blip r:embed="rId4">
            <a:alphaModFix/>
          </a:blip>
          <a:srcRect/>
          <a:stretch/>
        </p:blipFill>
        <p:spPr>
          <a:xfrm>
            <a:off x="571500" y="1504950"/>
            <a:ext cx="11049000" cy="4781550"/>
          </a:xfrm>
          <a:prstGeom prst="rect">
            <a:avLst/>
          </a:prstGeom>
          <a:noFill/>
          <a:ln>
            <a:noFill/>
          </a:ln>
        </p:spPr>
      </p:pic>
      <p:sp>
        <p:nvSpPr>
          <p:cNvPr id="224" name="Google Shape;224;p22"/>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E) Manager Oversight Dashboard</a:t>
            </a:r>
            <a:endParaRPr/>
          </a:p>
        </p:txBody>
      </p:sp>
      <p:sp>
        <p:nvSpPr>
          <p:cNvPr id="225" name="Google Shape;225;p22"/>
          <p:cNvSpPr/>
          <p:nvPr/>
        </p:nvSpPr>
        <p:spPr>
          <a:xfrm>
            <a:off x="571500" y="571500"/>
            <a:ext cx="47625" cy="5524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22"/>
          <p:cNvSpPr txBox="1"/>
          <p:nvPr/>
        </p:nvSpPr>
        <p:spPr>
          <a:xfrm>
            <a:off x="571500" y="5015805"/>
            <a:ext cx="11049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Urbanist Light"/>
                <a:ea typeface="Urbanist Light"/>
                <a:cs typeface="Urbanist Light"/>
                <a:sym typeface="Urbanist Light"/>
              </a:rPr>
              <a:t>Managers can click directly into these metrics to initiate a </a:t>
            </a:r>
            <a:r>
              <a:rPr lang="en-US" sz="1350" b="0" i="0" u="none" strike="noStrike" cap="none">
                <a:solidFill>
                  <a:srgbClr val="CBD5E1"/>
                </a:solidFill>
                <a:latin typeface="Urbanist"/>
                <a:ea typeface="Urbanist"/>
                <a:cs typeface="Urbanist"/>
                <a:sym typeface="Urbanist"/>
              </a:rPr>
              <a:t>1:1 Skills Review</a:t>
            </a:r>
            <a:r>
              <a:rPr lang="en-US" sz="1350" b="0" i="0" u="none" strike="noStrike" cap="none">
                <a:solidFill>
                  <a:srgbClr val="CBD5E1"/>
                </a:solidFill>
                <a:latin typeface="Urbanist Light"/>
                <a:ea typeface="Urbanist Light"/>
                <a:cs typeface="Urbanist Light"/>
                <a:sym typeface="Urbanist Light"/>
              </a:rPr>
              <a:t> with direct reports.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0"/>
        <p:cNvGrpSpPr/>
        <p:nvPr/>
      </p:nvGrpSpPr>
      <p:grpSpPr>
        <a:xfrm>
          <a:off x="0" y="0"/>
          <a:ext cx="0" cy="0"/>
          <a:chOff x="0" y="0"/>
          <a:chExt cx="0" cy="0"/>
        </a:xfrm>
      </p:grpSpPr>
      <p:pic>
        <p:nvPicPr>
          <p:cNvPr id="231" name="Google Shape;231;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2" name="Google Shape;232;p23"/>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Implementation Roadmap</a:t>
            </a:r>
            <a:endParaRPr/>
          </a:p>
        </p:txBody>
      </p:sp>
      <p:sp>
        <p:nvSpPr>
          <p:cNvPr id="233" name="Google Shape;233;p23"/>
          <p:cNvSpPr/>
          <p:nvPr/>
        </p:nvSpPr>
        <p:spPr>
          <a:xfrm>
            <a:off x="571500" y="571500"/>
            <a:ext cx="47625" cy="5524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23"/>
          <p:cNvSpPr/>
          <p:nvPr/>
        </p:nvSpPr>
        <p:spPr>
          <a:xfrm>
            <a:off x="571500" y="3466207"/>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5" name="Google Shape;235;p23"/>
          <p:cNvSpPr/>
          <p:nvPr/>
        </p:nvSpPr>
        <p:spPr>
          <a:xfrm>
            <a:off x="2222450" y="3275707"/>
            <a:ext cx="381000" cy="381000"/>
          </a:xfrm>
          <a:prstGeom prst="roundRect">
            <a:avLst>
              <a:gd name="adj" fmla="val 50000"/>
            </a:avLst>
          </a:prstGeom>
          <a:solidFill>
            <a:srgbClr val="0F172A"/>
          </a:solidFill>
          <a:ln w="38100" cap="flat" cmpd="sng">
            <a:solidFill>
              <a:srgbClr val="3B82F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6" name="Google Shape;236;p23"/>
          <p:cNvSpPr/>
          <p:nvPr/>
        </p:nvSpPr>
        <p:spPr>
          <a:xfrm>
            <a:off x="5905500" y="3275707"/>
            <a:ext cx="381000" cy="381000"/>
          </a:xfrm>
          <a:prstGeom prst="roundRect">
            <a:avLst>
              <a:gd name="adj" fmla="val 50000"/>
            </a:avLst>
          </a:prstGeom>
          <a:solidFill>
            <a:srgbClr val="0F172A"/>
          </a:solidFill>
          <a:ln w="38100" cap="flat" cmpd="sng">
            <a:solidFill>
              <a:srgbClr val="3B82F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23"/>
          <p:cNvSpPr/>
          <p:nvPr/>
        </p:nvSpPr>
        <p:spPr>
          <a:xfrm>
            <a:off x="9588549" y="3275707"/>
            <a:ext cx="381000" cy="381000"/>
          </a:xfrm>
          <a:prstGeom prst="roundRect">
            <a:avLst>
              <a:gd name="adj" fmla="val 50000"/>
            </a:avLst>
          </a:prstGeom>
          <a:solidFill>
            <a:srgbClr val="0F172A"/>
          </a:solidFill>
          <a:ln w="38100" cap="flat" cmpd="sng">
            <a:solidFill>
              <a:srgbClr val="3B82F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23"/>
          <p:cNvSpPr txBox="1"/>
          <p:nvPr/>
        </p:nvSpPr>
        <p:spPr>
          <a:xfrm>
            <a:off x="479423" y="3847207"/>
            <a:ext cx="3867202"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FFFFFF"/>
                </a:solidFill>
                <a:latin typeface="Urbanist"/>
                <a:ea typeface="Urbanist"/>
                <a:cs typeface="Urbanist"/>
                <a:sym typeface="Urbanist"/>
              </a:rPr>
              <a:t>Phase 1</a:t>
            </a:r>
            <a:endParaRPr/>
          </a:p>
        </p:txBody>
      </p:sp>
      <p:sp>
        <p:nvSpPr>
          <p:cNvPr id="239" name="Google Shape;239;p23"/>
          <p:cNvSpPr txBox="1"/>
          <p:nvPr/>
        </p:nvSpPr>
        <p:spPr>
          <a:xfrm>
            <a:off x="571500" y="4256782"/>
            <a:ext cx="3683049" cy="487560"/>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0" i="0" u="none" strike="noStrike" cap="none">
                <a:solidFill>
                  <a:srgbClr val="94A3B8"/>
                </a:solidFill>
                <a:latin typeface="Urbanist Light"/>
                <a:ea typeface="Urbanist Light"/>
                <a:cs typeface="Urbanist Light"/>
                <a:sym typeface="Urbanist Light"/>
              </a:rPr>
              <a:t>Schema Updates &amp;</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94A3B8"/>
                </a:solidFill>
                <a:latin typeface="Urbanist Light"/>
                <a:ea typeface="Urbanist Light"/>
                <a:cs typeface="Urbanist Light"/>
                <a:sym typeface="Urbanist Light"/>
              </a:rPr>
              <a:t> My Skills Widget</a:t>
            </a:r>
            <a:endParaRPr/>
          </a:p>
        </p:txBody>
      </p:sp>
      <p:sp>
        <p:nvSpPr>
          <p:cNvPr id="240" name="Google Shape;240;p23"/>
          <p:cNvSpPr txBox="1"/>
          <p:nvPr/>
        </p:nvSpPr>
        <p:spPr>
          <a:xfrm>
            <a:off x="4162473" y="3847207"/>
            <a:ext cx="3867202"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FFFFFF"/>
                </a:solidFill>
                <a:latin typeface="Urbanist"/>
                <a:ea typeface="Urbanist"/>
                <a:cs typeface="Urbanist"/>
                <a:sym typeface="Urbanist"/>
              </a:rPr>
              <a:t>Phase 2</a:t>
            </a:r>
            <a:endParaRPr/>
          </a:p>
        </p:txBody>
      </p:sp>
      <p:sp>
        <p:nvSpPr>
          <p:cNvPr id="241" name="Google Shape;241;p23"/>
          <p:cNvSpPr txBox="1"/>
          <p:nvPr/>
        </p:nvSpPr>
        <p:spPr>
          <a:xfrm>
            <a:off x="4254549" y="4256782"/>
            <a:ext cx="3683049" cy="487560"/>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0" i="0" u="none" strike="noStrike" cap="none">
                <a:solidFill>
                  <a:srgbClr val="94A3B8"/>
                </a:solidFill>
                <a:latin typeface="Urbanist Light"/>
                <a:ea typeface="Urbanist Light"/>
                <a:cs typeface="Urbanist Light"/>
                <a:sym typeface="Urbanist Light"/>
              </a:rPr>
              <a:t>Expert Search &amp;</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94A3B8"/>
                </a:solidFill>
                <a:latin typeface="Urbanist Light"/>
                <a:ea typeface="Urbanist Light"/>
                <a:cs typeface="Urbanist Light"/>
                <a:sym typeface="Urbanist Light"/>
              </a:rPr>
              <a:t> Peer Validation</a:t>
            </a:r>
            <a:endParaRPr/>
          </a:p>
        </p:txBody>
      </p:sp>
      <p:sp>
        <p:nvSpPr>
          <p:cNvPr id="242" name="Google Shape;242;p23"/>
          <p:cNvSpPr txBox="1"/>
          <p:nvPr/>
        </p:nvSpPr>
        <p:spPr>
          <a:xfrm>
            <a:off x="7845522" y="3847207"/>
            <a:ext cx="3867202"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FFFFFF"/>
                </a:solidFill>
                <a:latin typeface="Urbanist"/>
                <a:ea typeface="Urbanist"/>
                <a:cs typeface="Urbanist"/>
                <a:sym typeface="Urbanist"/>
              </a:rPr>
              <a:t>Phase 3</a:t>
            </a:r>
            <a:endParaRPr/>
          </a:p>
        </p:txBody>
      </p:sp>
      <p:sp>
        <p:nvSpPr>
          <p:cNvPr id="243" name="Google Shape;243;p23"/>
          <p:cNvSpPr txBox="1"/>
          <p:nvPr/>
        </p:nvSpPr>
        <p:spPr>
          <a:xfrm>
            <a:off x="7937599" y="4256782"/>
            <a:ext cx="3683049" cy="487560"/>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0" i="0" u="none" strike="noStrike" cap="none">
                <a:solidFill>
                  <a:srgbClr val="94A3B8"/>
                </a:solidFill>
                <a:latin typeface="Urbanist Light"/>
                <a:ea typeface="Urbanist Light"/>
                <a:cs typeface="Urbanist Light"/>
                <a:sym typeface="Urbanist Light"/>
              </a:rPr>
              <a:t>Manager Dashboard &amp;</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94A3B8"/>
                </a:solidFill>
                <a:latin typeface="Urbanist Light"/>
                <a:ea typeface="Urbanist Light"/>
                <a:cs typeface="Urbanist Light"/>
                <a:sym typeface="Urbanist Light"/>
              </a:rPr>
              <a:t> Reporting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7"/>
        <p:cNvGrpSpPr/>
        <p:nvPr/>
      </p:nvGrpSpPr>
      <p:grpSpPr>
        <a:xfrm>
          <a:off x="0" y="0"/>
          <a:ext cx="0" cy="0"/>
          <a:chOff x="0" y="0"/>
          <a:chExt cx="0" cy="0"/>
        </a:xfrm>
      </p:grpSpPr>
      <p:pic>
        <p:nvPicPr>
          <p:cNvPr id="248" name="Google Shape;24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9" name="Google Shape;249;p24"/>
          <p:cNvSpPr txBox="1"/>
          <p:nvPr/>
        </p:nvSpPr>
        <p:spPr>
          <a:xfrm>
            <a:off x="295275" y="2465040"/>
            <a:ext cx="11601450"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FFFFF"/>
                </a:solidFill>
                <a:latin typeface="Urbanist"/>
                <a:ea typeface="Urbanist"/>
                <a:cs typeface="Urbanist"/>
                <a:sym typeface="Urbanist"/>
              </a:rPr>
              <a:t>Questions?</a:t>
            </a:r>
            <a:endParaRPr/>
          </a:p>
        </p:txBody>
      </p:sp>
      <p:sp>
        <p:nvSpPr>
          <p:cNvPr id="250" name="Google Shape;250;p24"/>
          <p:cNvSpPr txBox="1"/>
          <p:nvPr/>
        </p:nvSpPr>
        <p:spPr>
          <a:xfrm>
            <a:off x="571500" y="3798540"/>
            <a:ext cx="11049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CBD5E1"/>
                </a:solidFill>
                <a:latin typeface="Urbanist Light"/>
                <a:ea typeface="Urbanist Light"/>
                <a:cs typeface="Urbanist Light"/>
                <a:sym typeface="Urbanist Light"/>
              </a:rPr>
              <a:t>ServiceNow Skills Architecture Review</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659</Words>
  <Application>Microsoft Macintosh PowerPoint</Application>
  <PresentationFormat>Widescreen</PresentationFormat>
  <Paragraphs>70</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Urbanist</vt:lpstr>
      <vt:lpstr>Arial</vt:lpstr>
      <vt:lpstr>Urbanist Light</vt:lpstr>
      <vt:lpstr>Calibri</vt:lpstr>
      <vt:lpstr>Urbanist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Nicholas Zitzer</cp:lastModifiedBy>
  <cp:revision>1</cp:revision>
  <dcterms:modified xsi:type="dcterms:W3CDTF">2025-12-17T14:40:12Z</dcterms:modified>
</cp:coreProperties>
</file>